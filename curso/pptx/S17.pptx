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PENSAMIENTO CRÍTICO · SESIÓN 17 · UNIDAD 3 · ARGUMENTAR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Ejemplos, contraejemplos y analogías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Los ejemplos apoyan una idea, un solo contraejemplo basta para tumbar un «todos» y una analogía compara dos cosas parecidas.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Escribe en tu hoja las palabras que faltan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Se creía que todos los cisnes eran blancos, hasta que se encontraron cisnes ______ en Australia.  (sesión 16)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 conclusión de una inducción es ______, no segura.  (sesión 16)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En el cuento, todo el palacio ______ sin razón.  (sesión 5)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Corrige con otro color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Se creía que todos los cisnes eran blancos, hasta que se encontraron cisnes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negros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en Australia.  (sesión 16)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 conclusión de una inducción es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probable</a:t>
            </a:r>
            <a:r>
              <a:rPr sz="2600" b="0">
                <a:solidFill>
                  <a:srgbClr val="1F2A44"/>
                </a:solidFill>
                <a:latin typeface="Nunito Sans"/>
              </a:rPr>
              <a:t>, no segura.  (sesión 16)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En el cuento, todo el palacio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cojeaba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sin razón.  (sesión 5)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Un chico dice: «Todos los gatos odian el agua». Una chica le enseña un vídeo de su gato nadando tan tranquilo.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¿Qué le pasa a la frase de ese chico?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Tres herramientas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TRES HERRAMIENTAS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Ejemplo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Un ejemplo es un caso que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ilustra</a:t>
            </a:r>
            <a:r>
              <a:rPr sz="2800" b="1">
                <a:solidFill>
                  <a:srgbClr val="1F2A44"/>
                </a:solidFill>
                <a:latin typeface="Nunito Sans"/>
              </a:rPr>
              <a:t> o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apoya</a:t>
            </a:r>
            <a:r>
              <a:rPr sz="2800" b="1">
                <a:solidFill>
                  <a:srgbClr val="1F2A44"/>
                </a:solidFill>
                <a:latin typeface="Nunito Sans"/>
              </a:rPr>
              <a:t> una idea.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Ayuda a entender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Muchos ejemplos hacen una idea más probable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Pero no demuestran un «todos» (sesión 16)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TRES HERRAMIENTAS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Contraejemplo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Un contraejemplo es un caso que va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en contra</a:t>
            </a:r>
            <a:r>
              <a:rPr sz="2800" b="1">
                <a:solidFill>
                  <a:srgbClr val="1F2A44"/>
                </a:solidFill>
                <a:latin typeface="Nunito Sans"/>
              </a:rPr>
              <a:t> de una afirmación general.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Tumba frases con «todos», «nadie», «siempre», «nunca»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Basta uno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para tumbar un «todos»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«Todos los gatos odian el agua» → un gato que nada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TRES HERRAMIENTAS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Analogía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Una analogía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compara</a:t>
            </a:r>
            <a:r>
              <a:rPr sz="2800" b="1">
                <a:solidFill>
                  <a:srgbClr val="1F2A44"/>
                </a:solidFill>
                <a:latin typeface="Nunito Sans"/>
              </a:rPr>
              <a:t> dos cosas: si se parecen en lo que importa, lo que vale para una seguramente vale para la otra.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«Si el casco protege en la bici, también protegerá en el patinete»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Es buena si se parecen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en lo que importa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Como la inducción: da una conclusión probable, no segura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Casos resueltos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1 · Un contraejemplo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 chico: «Nadie de mi clase lee libros por gusto». Una chica: «Yo he leído tres este verano, y nadie me obligó».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La frase del chico es general: «nadie».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La chica es un caso en contra: un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contraejemplo</a:t>
            </a:r>
            <a:r>
              <a:rPr sz="2400" b="0">
                <a:solidFill>
                  <a:srgbClr val="1F2A44"/>
                </a:solidFill>
                <a:latin typeface="Nunito Sans"/>
              </a:rPr>
              <a:t>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No hace falta más: basta uno.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la frase del chico es falsa. Podría decir «pocos», pero no «nadie».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2 · Muchos ejemplos no bastan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 chico: «Todos los youtubers son ricos: mira estos cinco, que tienen casas enormes».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Ese chico da cinco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ejemplos</a:t>
            </a:r>
            <a:r>
              <a:rPr sz="2400" b="0">
                <a:solidFill>
                  <a:srgbClr val="1F2A44"/>
                </a:solidFill>
                <a:latin typeface="Nunito Sans"/>
              </a:rPr>
              <a:t>. Apoyan su idea, pero no la demuestran.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Hay muchísimos youtubers con pocos seguidores que no ganan casi nada.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Cada uno de ellos es un contraejemplo.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cinco ejemplos no demuestran un «todos». Un contraejemplo sí lo tumba.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3 · Una mala analogía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«Deberíamos poder mirar los apuntes en los exámenes: los médicos miran las radiografías cuando operan.»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Compara a un alumno en un examen con un médico trabajando.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¿Se parecen en lo que importa? No: el examen sirve para ver qué ha aprendido el alumno.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Al médico no le están examinando: ya aprendió antes.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es una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mala analogía</a:t>
            </a:r>
            <a:r>
              <a:rPr sz="2400" b="0">
                <a:solidFill>
                  <a:srgbClr val="1F2A44"/>
                </a:solidFill>
                <a:latin typeface="Nunito Sans"/>
              </a:rPr>
              <a:t>: se parecen en algo que no importa para la conclusión.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4 · Una buena analogía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«Igual que no dejas la puerta de casa abierta al salir, no dejes el móvil sin contraseña.»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Compara la casa y el móvil.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¿Se parecen en lo que importa? Sí: los dos guardan cosas privadas que otros podrían coger.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es una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buena analogía</a:t>
            </a:r>
            <a:r>
              <a:rPr sz="2400" b="0">
                <a:solidFill>
                  <a:srgbClr val="1F2A44"/>
                </a:solidFill>
                <a:latin typeface="Nunito Sans"/>
              </a:rPr>
              <a:t>: se parecen en lo importante para la conclusión.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Ojo con los contraejemplos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BLOQUE 3 · OJO CON LOS CONTRAEJEMPLOS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¿Un contraejemplo lo tumba todo?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Una chica: «A los perros les encanta salir a pasear». Un chico: «El mío odia pasear: se esconde debajo de la cama».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El chico tiene un contraejemplo. ¿La frase de la chica es falsa?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La chica no dice «todos los perros»: dice cómo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suelen</a:t>
            </a:r>
            <a:r>
              <a:rPr sz="2400" b="0">
                <a:solidFill>
                  <a:srgbClr val="1F2A44"/>
                </a:solidFill>
                <a:latin typeface="Nunito Sans"/>
              </a:rPr>
              <a:t> ser.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Un perro que no quiere pasear es una excepción, y «suelen» admite excepciones.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Para tumbar su frase haría falta ver que la mayoría no quiere pasear.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un contraejemplo tumba un «todos», no un «casi todos». Mira bien qué dice la frase.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Escríbelo tú primero, sin mirar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Dos minutos. Después lo comparamos.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Un ejemplo apoya una idea, pero muchos ejemplos no demuestran un «todos».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Un contraejemplo basta para tumbar un «todos», un «nadie» o un «nunca».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Una analogía es buena si las dos cosas se parecen en lo que importa.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VÍDEO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FBF7EF"/>
                </a:solidFill>
                <a:latin typeface="Fredoka"/>
              </a:rPr>
              <a:t>Qué es un contraejemplo y qué es un argumento por analogía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2200000"/>
            <a:ext cx="10912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C9D3E6"/>
                </a:solidFill>
                <a:latin typeface="Nunito Sans"/>
              </a:rPr>
              <a:t>Ver más casos en los que un solo ejemplo en contra tumba una frase general.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minutos · individual · en silencio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1 · Todos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puntos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2 · Repaso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3 · Reto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1.ª pasada: sin apuntes, con bolígrafo. 2.ª pasada: con los apuntes, en otro color. Marca «seguro» o «dudo» en cada respuesta.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