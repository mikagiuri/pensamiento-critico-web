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notesMaster" Target="notesMasters/notesMaster1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3 minutos. Sin apuntes. Es para recordar, no cuenta para nota.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3 minutos. Sin apuntes. Es para recordar, no cuenta para nota.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Nadie tiene que contestar: solo pensarlo.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Dejar unos segundos para que piensen la respuesta fácil antes de enseñar los pasos.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Dejar 2 minutos para que lo escriban. La diapositiva siguiente muestra el resumen.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Buscar: «sesgo de confirmación explicado» · «tarea 2 4 6 Wason»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42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10"/>
              </a:spcAft>
            </a:pPr>
            <a:r>
              <a:rPr sz="1800" b="1">
                <a:solidFill>
                  <a:srgbClr val="1F2A44"/>
                </a:solidFill>
                <a:latin typeface="Nunito Sans"/>
              </a:rPr>
              <a:t>🦉 Aula de Filosofía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105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85"/>
              </a:spcAft>
            </a:pPr>
            <a:r>
              <a:rPr sz="1300" b="1">
                <a:solidFill>
                  <a:srgbClr val="E8793A"/>
                </a:solidFill>
                <a:latin typeface="Nunito Sans"/>
              </a:rPr>
              <a:t>PENSAMIENTO CRÍTICO · SESIÓN 44 · UNIDAD 8 · SESGOS: LA MENTE TAMBIÉN ENGAÑA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00" y="155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250"/>
              </a:spcAft>
            </a:pPr>
            <a:r>
              <a:rPr sz="5000" b="1">
                <a:solidFill>
                  <a:srgbClr val="1F2A44"/>
                </a:solidFill>
                <a:latin typeface="Fredoka"/>
              </a:rPr>
              <a:t>Sesgo de confirmación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00" y="4300000"/>
            <a:ext cx="10912000" cy="1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80"/>
              </a:spcAft>
            </a:pPr>
            <a:r>
              <a:rPr sz="2400" b="0">
                <a:solidFill>
                  <a:srgbClr val="4A5568"/>
                </a:solidFill>
                <a:latin typeface="Nunito Sans"/>
              </a:rPr>
              <a:t>El sesgo de confirmación es buscar, recordar y creer solo lo que nos da la razón, y olvidar lo que nos la quita.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ANTES DE EMPEZAR · SIN MIRAR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40"/>
              </a:spcAft>
            </a:pPr>
            <a:r>
              <a:rPr sz="3200" b="1">
                <a:solidFill>
                  <a:srgbClr val="1F2A44"/>
                </a:solidFill>
                <a:latin typeface="Fredoka"/>
              </a:rPr>
              <a:t>Escribe en tu hoja las palabras que faltan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00" y="1800000"/>
            <a:ext cx="10912000" cy="4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Un ______ mental es una forma rápida de decidir sin pensar mucho.  (sesión 43)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Los sesgos nos pasan a ______, también a los expertos.  (sesión 43)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Una muestra que no se parece a la población está ______.  (sesión 39)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ANTES DE EMPEZAR · SIN MIRAR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40"/>
              </a:spcAft>
            </a:pPr>
            <a:r>
              <a:rPr sz="3200" b="1">
                <a:solidFill>
                  <a:srgbClr val="1F2A44"/>
                </a:solidFill>
                <a:latin typeface="Fredoka"/>
              </a:rPr>
              <a:t>Corrige con otro color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00" y="1800000"/>
            <a:ext cx="10912000" cy="4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Un </a:t>
            </a:r>
            <a:r>
              <a:rPr sz="2600" b="1">
                <a:solidFill>
                  <a:srgbClr val="1F2A44"/>
                </a:solidFill>
                <a:latin typeface="Nunito Sans"/>
              </a:rPr>
              <a:t>atajo</a:t>
            </a:r>
            <a:r>
              <a:rPr sz="2600" b="0">
                <a:solidFill>
                  <a:srgbClr val="1F2A44"/>
                </a:solidFill>
                <a:latin typeface="Nunito Sans"/>
              </a:rPr>
              <a:t> mental es una forma rápida de decidir sin pensar mucho.  (sesión 43)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Los sesgos nos pasan a </a:t>
            </a:r>
            <a:r>
              <a:rPr sz="2600" b="1">
                <a:solidFill>
                  <a:srgbClr val="1F2A44"/>
                </a:solidFill>
                <a:latin typeface="Nunito Sans"/>
              </a:rPr>
              <a:t>todos</a:t>
            </a:r>
            <a:r>
              <a:rPr sz="2600" b="0">
                <a:solidFill>
                  <a:srgbClr val="1F2A44"/>
                </a:solidFill>
                <a:latin typeface="Nunito Sans"/>
              </a:rPr>
              <a:t>, también a los expertos.  (sesión 43)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Una muestra que no se parece a la población está </a:t>
            </a:r>
            <a:r>
              <a:rPr sz="2600" b="1">
                <a:solidFill>
                  <a:srgbClr val="1F2A44"/>
                </a:solidFill>
                <a:latin typeface="Nunito Sans"/>
              </a:rPr>
              <a:t>sesgada</a:t>
            </a:r>
            <a:r>
              <a:rPr sz="2600" b="0">
                <a:solidFill>
                  <a:srgbClr val="1F2A44"/>
                </a:solidFill>
                <a:latin typeface="Nunito Sans"/>
              </a:rPr>
              <a:t>.  (sesión 39)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PARA EMPEZAR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00" y="1300000"/>
            <a:ext cx="90000" cy="2400000"/>
          </a:xfrm>
          <a:prstGeom prst="rect">
            <a:avLst/>
          </a:prstGeom>
          <a:solidFill>
            <a:srgbClr val="E879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40000" y="1300000"/>
            <a:ext cx="10612000" cy="26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530"/>
              </a:spcAft>
            </a:pPr>
            <a:r>
              <a:rPr sz="3400" b="1">
                <a:solidFill>
                  <a:srgbClr val="1F2A44"/>
                </a:solidFill>
                <a:latin typeface="Nunito Sans"/>
              </a:rPr>
              <a:t>Maialen cree que el número 7 le da suerte. Se acuerda de todas las veces que ganó con él.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00" y="4300000"/>
            <a:ext cx="10912000" cy="1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70"/>
              </a:spcAft>
            </a:pPr>
            <a:r>
              <a:rPr sz="2600" b="0">
                <a:solidFill>
                  <a:srgbClr val="4A5568"/>
                </a:solidFill>
                <a:latin typeface="Nunito Sans"/>
              </a:rPr>
              <a:t>¿Y las veces que perdió? ¿Se acordará de ellas?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A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2300000"/>
            <a:ext cx="10912000" cy="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10"/>
              </a:spcAft>
            </a:pPr>
            <a:r>
              <a:rPr sz="1800" b="1">
                <a:solidFill>
                  <a:srgbClr val="F4B183"/>
                </a:solidFill>
                <a:latin typeface="Nunito Sans"/>
              </a:rPr>
              <a:t>BLOQUE 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280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160"/>
              </a:spcAft>
            </a:pPr>
            <a:r>
              <a:rPr sz="4800" b="1">
                <a:solidFill>
                  <a:srgbClr val="FBF7EF"/>
                </a:solidFill>
                <a:latin typeface="Fredoka"/>
              </a:rPr>
              <a:t>Ver solo lo que nos da la razón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BLOQUE 1 · VER SOLO LO QUE NOS DA LA RAZÓN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Sesgo de confirmación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50000"/>
            <a:ext cx="10912000" cy="1150000"/>
          </a:xfrm>
          <a:prstGeom prst="rect">
            <a:avLst/>
          </a:prstGeom>
          <a:solidFill>
            <a:srgbClr val="EAF0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730000"/>
            <a:ext cx="10512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260"/>
              </a:spcAft>
            </a:pPr>
            <a:r>
              <a:rPr sz="2800" b="1">
                <a:solidFill>
                  <a:srgbClr val="1F2A44"/>
                </a:solidFill>
                <a:latin typeface="Nunito Sans"/>
              </a:rPr>
              <a:t>Es la tendencia a fijarnos solo en lo que confirma lo que ya creemos.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00" y="3000000"/>
            <a:ext cx="10912000" cy="345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1">
                <a:solidFill>
                  <a:srgbClr val="1F2A44"/>
                </a:solidFill>
                <a:latin typeface="Nunito Sans"/>
              </a:rPr>
              <a:t>Confirmar:</a:t>
            </a:r>
            <a:r>
              <a:rPr sz="2800" b="0">
                <a:solidFill>
                  <a:srgbClr val="1F2A44"/>
                </a:solidFill>
                <a:latin typeface="Nunito Sans"/>
              </a:rPr>
              <a:t> dar por bueno, apoyar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1">
                <a:solidFill>
                  <a:srgbClr val="1F2A44"/>
                </a:solidFill>
                <a:latin typeface="Nunito Sans"/>
              </a:rPr>
              <a:t>Buscamos</a:t>
            </a:r>
            <a:r>
              <a:rPr sz="2800" b="0">
                <a:solidFill>
                  <a:srgbClr val="1F2A44"/>
                </a:solidFill>
                <a:latin typeface="Nunito Sans"/>
              </a:rPr>
              <a:t> lo que nos da la razón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1">
                <a:solidFill>
                  <a:srgbClr val="1F2A44"/>
                </a:solidFill>
                <a:latin typeface="Nunito Sans"/>
              </a:rPr>
              <a:t>Recordamos</a:t>
            </a:r>
            <a:r>
              <a:rPr sz="2800" b="0">
                <a:solidFill>
                  <a:srgbClr val="1F2A44"/>
                </a:solidFill>
                <a:latin typeface="Nunito Sans"/>
              </a:rPr>
              <a:t> mejor lo que nos da la razón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1">
                <a:solidFill>
                  <a:srgbClr val="1F2A44"/>
                </a:solidFill>
                <a:latin typeface="Nunito Sans"/>
              </a:rPr>
              <a:t>Interpretamos</a:t>
            </a:r>
            <a:r>
              <a:rPr sz="2800" b="0">
                <a:solidFill>
                  <a:srgbClr val="1F2A44"/>
                </a:solidFill>
                <a:latin typeface="Nunito Sans"/>
              </a:rPr>
              <a:t> los datos dudosos a nuestro favor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BLOQUE 1 · VER SOLO LO QUE NOS DA LA RAZÓN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Tres formas de confirmar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40000" y="1700000"/>
          <a:ext cx="10912000" cy="240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456000"/>
                <a:gridCol w="5456000"/>
              </a:tblGrid>
              <a:tr h="600000">
                <a:tc>
                  <a:txBody>
                    <a:bodyPr/>
                    <a:lstStyle/>
                    <a:p>
                      <a:r>
                        <a:rPr sz="2000" b="1">
                          <a:solidFill>
                            <a:srgbClr val="FBF7EF"/>
                          </a:solidFill>
                          <a:latin typeface="Fredoka"/>
                        </a:rPr>
                        <a:t>Forma</a:t>
                      </a:r>
                    </a:p>
                  </a:txBody>
                  <a:tcPr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1">
                          <a:solidFill>
                            <a:srgbClr val="FBF7EF"/>
                          </a:solidFill>
                          <a:latin typeface="Fredoka"/>
                        </a:rPr>
                        <a:t>Ejemplo</a:t>
                      </a:r>
                    </a:p>
                  </a:txBody>
                  <a:tcPr>
                    <a:solidFill>
                      <a:srgbClr val="1F2A44"/>
                    </a:solidFill>
                  </a:tcPr>
                </a:tc>
              </a:tr>
              <a:tr h="600000"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Buscar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Solo veo vídeos que dicen que mi equipo es el mejor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600000"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Recordar</a:t>
                      </a:r>
                    </a:p>
                  </a:txBody>
                  <a:tcPr>
                    <a:solidFill>
                      <a:srgbClr val="EAF0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Me acuerdo del día que el horóscopo acertó</a:t>
                      </a:r>
                    </a:p>
                  </a:txBody>
                  <a:tcPr>
                    <a:solidFill>
                      <a:srgbClr val="EAF0F7"/>
                    </a:solidFill>
                  </a:tcPr>
                </a:tc>
              </a:tr>
              <a:tr h="600000"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Interpretar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Falta contra el Athletic: «¡robo!». A favor: «era clarísima»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BLOQUE 1 · VER SOLO LO QUE NOS DA LA RAZÓN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1500000"/>
            <a:ext cx="10912000" cy="30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530"/>
              </a:spcAft>
            </a:pPr>
            <a:r>
              <a:rPr sz="3400" b="1">
                <a:solidFill>
                  <a:srgbClr val="1F2A44"/>
                </a:solidFill>
                <a:latin typeface="Nunito Sans"/>
              </a:rPr>
              <a:t>El entendimiento humano, cuando ha adoptado una opinión, atrae todo lo demás para apoyarla y hacerla concordar con ella.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00" y="4700000"/>
            <a:ext cx="10912000" cy="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90"/>
              </a:spcAft>
            </a:pPr>
            <a:r>
              <a:rPr sz="2200" b="0">
                <a:solidFill>
                  <a:srgbClr val="4A5568"/>
                </a:solidFill>
                <a:latin typeface="Nunito Sans"/>
              </a:rPr>
              <a:t>Francis Bacon, Novum Organum (1620)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A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2300000"/>
            <a:ext cx="10912000" cy="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10"/>
              </a:spcAft>
            </a:pPr>
            <a:r>
              <a:rPr sz="1800" b="1">
                <a:solidFill>
                  <a:srgbClr val="F4B183"/>
                </a:solidFill>
                <a:latin typeface="Nunito Sans"/>
              </a:rPr>
              <a:t>BLOQUE 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280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160"/>
              </a:spcAft>
            </a:pPr>
            <a:r>
              <a:rPr sz="4800" b="1">
                <a:solidFill>
                  <a:srgbClr val="FBF7EF"/>
                </a:solidFill>
                <a:latin typeface="Fredoka"/>
              </a:rPr>
              <a:t>Casos resueltos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BLOQUE 2 · CASOS RESUELTOS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Caso 1 · El número de la suerte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00000"/>
            <a:ext cx="10912000" cy="110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650000"/>
            <a:ext cx="10512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1F2A44"/>
                </a:solidFill>
                <a:latin typeface="Nunito Sans"/>
              </a:rPr>
              <a:t>Maialen juega con el 7 en todo. «Siempre me trae suerte: el sábado gané con él a las cartas».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00" y="2900000"/>
            <a:ext cx="10912000" cy="3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¿De qué se acuerda? De las veces que ganó con el 7.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¿Y de las que perdió? No las cuenta: no confirman su idea.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Para saberlo tendría que apuntar todas las partidas, las buenas y las malas.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4.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Conclusión: sesgo de confirmación. Solo recuerda los aciertos.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BLOQUE 2 · CASOS RESUELTOS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Caso 2 · La búsqueda en internet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00000"/>
            <a:ext cx="10912000" cy="110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650000"/>
            <a:ext cx="10512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1F2A44"/>
                </a:solidFill>
                <a:latin typeface="Nunito Sans"/>
              </a:rPr>
              <a:t>Dylan cree que las bebidas energéticas le ayudan a estudiar. Busca: «beneficios de las bebidas energéticas para estudiar».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00" y="2900000"/>
            <a:ext cx="10912000" cy="3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La búsqueda ya lleva la respuesta: solo pide beneficios.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Encontrará páginas que le dan la razón y se quedará tranquilo.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Una búsqueda más justa: «bebidas energéticas y estudio: ventajas y riesgos».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4.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Conclusión: sesgo de confirmación al buscar. Hay que buscar también lo que me puede quitar la razón.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BLOQUE 2 · CASOS RESUELTOS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Caso 3 · La tarea 2-4-6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00000"/>
            <a:ext cx="10912000" cy="110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650000"/>
            <a:ext cx="10512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1F2A44"/>
                </a:solidFill>
                <a:latin typeface="Nunito Sans"/>
              </a:rPr>
              <a:t>Experimento de Peter Wason (1960): «La serie 2-4-6 cumple una regla secreta. Propón otras series y te digo si la cumplen».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00" y="2900000"/>
            <a:ext cx="10912000" cy="3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Mucha gente prueba 8-10-12, 20-22-24… Todas cumplen. «¡La regla es sumar 2!».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Pero la regla era más sencilla: «tres números que van subiendo».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Pocos probaron series que pudieran fallar, como 6-4-2 o 1-5-100.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4.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Conclusión: buscamos ejemplos que confirman nuestra idea. Es mejor buscar contraejemplos, como en la sesión 11.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C9A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1F2A44"/>
                </a:solidFill>
                <a:latin typeface="Nunito Sans"/>
              </a:rPr>
              <a:t>CASO TRAMPA · BLOQUE 2 · CASOS RESUELTOS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⚠ ¿Cerrado o bien informado?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00000"/>
            <a:ext cx="10912000" cy="1100000"/>
          </a:xfrm>
          <a:prstGeom prst="rect">
            <a:avLst/>
          </a:prstGeom>
          <a:solidFill>
            <a:srgbClr val="FBF7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650000"/>
            <a:ext cx="10512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1F2A44"/>
                </a:solidFill>
                <a:latin typeface="Nunito Sans"/>
              </a:rPr>
              <a:t>Iker cree que fumar es malo para la salud. Ve un vídeo, sin ninguna fuente, que dice lo contrario. No le hace caso.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00" y="2900000"/>
            <a:ext cx="10912000" cy="3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Solo acepta lo que le da la razón… ¿es sesgo de confirmación?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Parece que sí: rechaza lo que le quita la razón.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Pero mira las pruebas: su idea tiene miles de estudios detrás; el vídeo, ninguna fuente.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4.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El sesgo es tratar peor una prueba solo porque me quita la razón. Aquí la prueba es mala.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5.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Conclusión: no cambiar de opinión por una mala razón no es un sesgo. Sí lo sería ignorar una buena prueba.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A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2300000"/>
            <a:ext cx="10912000" cy="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10"/>
              </a:spcAft>
            </a:pPr>
            <a:r>
              <a:rPr sz="1800" b="1">
                <a:solidFill>
                  <a:srgbClr val="F4B183"/>
                </a:solidFill>
                <a:latin typeface="Nunito Sans"/>
              </a:rPr>
              <a:t>BLOQUE 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280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160"/>
              </a:spcAft>
            </a:pPr>
            <a:r>
              <a:rPr sz="4800" b="1">
                <a:solidFill>
                  <a:srgbClr val="FBF7EF"/>
                </a:solidFill>
                <a:latin typeface="Fredoka"/>
              </a:rPr>
              <a:t>Cómo frenarlo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BLOQUE 3 · CÓMO FRENARLO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Cuatro frenos al sesgo de confirmación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00" y="1650000"/>
            <a:ext cx="10912000" cy="480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Preguntarme: «¿qué me haría cambiar de opinión?»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Buscar a propósito lo que dice lo contrario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Apuntar los aciertos </a:t>
            </a:r>
            <a:r>
              <a:rPr sz="2800" b="1">
                <a:solidFill>
                  <a:srgbClr val="1F2A44"/>
                </a:solidFill>
                <a:latin typeface="Nunito Sans"/>
              </a:rPr>
              <a:t>y</a:t>
            </a:r>
            <a:r>
              <a:rPr sz="2800" b="0">
                <a:solidFill>
                  <a:srgbClr val="1F2A44"/>
                </a:solidFill>
                <a:latin typeface="Nunito Sans"/>
              </a:rPr>
              <a:t> los fallos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Escuchar a quien piensa distinto sin preparar la respuesta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LO DE HOY EN TRES LÍNEAS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Escríbelo tú primero, sin mirar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00" y="1800000"/>
            <a:ext cx="10912000" cy="1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70"/>
              </a:spcAft>
            </a:pPr>
            <a:r>
              <a:rPr sz="2600" b="0">
                <a:solidFill>
                  <a:srgbClr val="4A5568"/>
                </a:solidFill>
                <a:latin typeface="Nunito Sans"/>
              </a:rPr>
              <a:t>Dos minutos. Después lo comparamos.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LO DE HOY EN TRES LÍNEAS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1300000"/>
            <a:ext cx="10912000" cy="4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350"/>
              </a:spcAft>
            </a:pPr>
            <a:r>
              <a:rPr sz="30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3000" b="0">
                <a:solidFill>
                  <a:srgbClr val="1F2A44"/>
                </a:solidFill>
                <a:latin typeface="Nunito Sans"/>
              </a:rPr>
              <a:t>El sesgo de confirmación es fijarnos solo en lo que nos da la razón.</a:t>
            </a:r>
          </a:p>
          <a:p>
            <a:pPr>
              <a:spcAft>
                <a:spcPts val="1350"/>
              </a:spcAft>
            </a:pPr>
            <a:r>
              <a:rPr sz="30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3000" b="0">
                <a:solidFill>
                  <a:srgbClr val="1F2A44"/>
                </a:solidFill>
                <a:latin typeface="Nunito Sans"/>
              </a:rPr>
              <a:t>Buscamos, recordamos e interpretamos a favor de lo que ya creemos.</a:t>
            </a:r>
          </a:p>
          <a:p>
            <a:pPr>
              <a:spcAft>
                <a:spcPts val="1350"/>
              </a:spcAft>
            </a:pPr>
            <a:r>
              <a:rPr sz="30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3000" b="0">
                <a:solidFill>
                  <a:srgbClr val="1F2A44"/>
                </a:solidFill>
                <a:latin typeface="Nunito Sans"/>
              </a:rPr>
              <a:t>Para frenarlo, busca a propósito lo que podría quitarte la razón.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A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F4B183"/>
                </a:solidFill>
                <a:latin typeface="Nunito Sans"/>
              </a:rPr>
              <a:t>VÍDEO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20"/>
              </a:spcAft>
            </a:pPr>
            <a:r>
              <a:rPr sz="3600" b="1">
                <a:solidFill>
                  <a:srgbClr val="FBF7EF"/>
                </a:solidFill>
                <a:latin typeface="Fredoka"/>
              </a:rPr>
              <a:t>El sesgo de confirmación y la tarea 2-4-6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00" y="2200000"/>
            <a:ext cx="10912000" cy="20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80"/>
              </a:spcAft>
            </a:pPr>
            <a:r>
              <a:rPr sz="2400" b="0">
                <a:solidFill>
                  <a:srgbClr val="C9D3E6"/>
                </a:solidFill>
                <a:latin typeface="Nunito Sans"/>
              </a:rPr>
              <a:t>Ver a gente real intentando adivinar la regla del 2-4-6 y cayendo en el sesgo.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A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F4B183"/>
                </a:solidFill>
                <a:latin typeface="Nunito Sans"/>
              </a:rPr>
              <a:t>AHORA, LA HOJA DEL DÍA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FBF7EF"/>
                </a:solidFill>
                <a:latin typeface="Fredoka"/>
              </a:rPr>
              <a:t>20 minutos · individual · en silencio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2000000"/>
            <a:ext cx="3504000" cy="1800000"/>
          </a:xfrm>
          <a:prstGeom prst="rect">
            <a:avLst/>
          </a:prstGeom>
          <a:solidFill>
            <a:srgbClr val="FBF7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90000" y="21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90"/>
              </a:spcAft>
            </a:pPr>
            <a:r>
              <a:rPr sz="2200" b="1">
                <a:solidFill>
                  <a:srgbClr val="E8793A"/>
                </a:solidFill>
                <a:latin typeface="Nunito Sans"/>
              </a:rPr>
              <a:t>Peldaño 1 · Todos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0000" y="29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2000" b="0">
                <a:solidFill>
                  <a:srgbClr val="4A5568"/>
                </a:solidFill>
                <a:latin typeface="Nunito Sans"/>
              </a:rPr>
              <a:t>6 puntos</a:t>
            </a:r>
          </a:p>
        </p:txBody>
      </p:sp>
      <p:sp>
        <p:nvSpPr>
          <p:cNvPr id="7" name="Rectangle 6"/>
          <p:cNvSpPr/>
          <p:nvPr/>
        </p:nvSpPr>
        <p:spPr>
          <a:xfrm>
            <a:off x="4344000" y="2000000"/>
            <a:ext cx="3504000" cy="1800000"/>
          </a:xfrm>
          <a:prstGeom prst="rect">
            <a:avLst/>
          </a:prstGeom>
          <a:solidFill>
            <a:srgbClr val="FBF7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494000" y="21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90"/>
              </a:spcAft>
            </a:pPr>
            <a:r>
              <a:rPr sz="2200" b="1">
                <a:solidFill>
                  <a:srgbClr val="E8793A"/>
                </a:solidFill>
                <a:latin typeface="Nunito Sans"/>
              </a:rPr>
              <a:t>Peldaño 2 · Repaso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94000" y="29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2000" b="0">
                <a:solidFill>
                  <a:srgbClr val="4A5568"/>
                </a:solidFill>
                <a:latin typeface="Nunito Sans"/>
              </a:rPr>
              <a:t>2 puntos</a:t>
            </a:r>
          </a:p>
        </p:txBody>
      </p:sp>
      <p:sp>
        <p:nvSpPr>
          <p:cNvPr id="10" name="Rectangle 9"/>
          <p:cNvSpPr/>
          <p:nvPr/>
        </p:nvSpPr>
        <p:spPr>
          <a:xfrm>
            <a:off x="8048000" y="2000000"/>
            <a:ext cx="3504000" cy="1800000"/>
          </a:xfrm>
          <a:prstGeom prst="rect">
            <a:avLst/>
          </a:prstGeom>
          <a:solidFill>
            <a:srgbClr val="FBF7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198000" y="21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90"/>
              </a:spcAft>
            </a:pPr>
            <a:r>
              <a:rPr sz="2200" b="1">
                <a:solidFill>
                  <a:srgbClr val="E8793A"/>
                </a:solidFill>
                <a:latin typeface="Nunito Sans"/>
              </a:rPr>
              <a:t>Peldaño 3 · Reto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198000" y="29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2000" b="0">
                <a:solidFill>
                  <a:srgbClr val="4A5568"/>
                </a:solidFill>
                <a:latin typeface="Nunito Sans"/>
              </a:rPr>
              <a:t>2 puntos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00" y="4200000"/>
            <a:ext cx="10912000" cy="1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90"/>
              </a:spcAft>
            </a:pPr>
            <a:r>
              <a:rPr sz="2200" b="0">
                <a:solidFill>
                  <a:srgbClr val="C9D3E6"/>
                </a:solidFill>
                <a:latin typeface="Nunito Sans"/>
              </a:rPr>
              <a:t>1.ª pasada: sin apuntes, con bolígrafo. 2.ª pasada: con los apuntes, en otro color. Marca «seguro» o «dudo» en cada respuesta.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