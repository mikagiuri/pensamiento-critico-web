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 minutos. Sin apuntes. Es para recordar, no cuenta para nota.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 minutos. Sin apuntes. Es para recordar, no cuenta para nota.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Nadie tiene que contestar: solo pensarlo.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Dejar unos segundos para que piensen la respuesta fácil antes de enseñar los pasos.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Dejar 2 minutos para que lo escriban. La diapositiva siguiente muestra el resumen.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Buscar: «cómo saber si una fuente es fiable» · «evaluar fuentes de información internet»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42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1F2A44"/>
                </a:solidFill>
                <a:latin typeface="Nunito Sans"/>
              </a:rPr>
              <a:t>🦉 Aula de Filosofía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05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85"/>
              </a:spcAft>
            </a:pPr>
            <a:r>
              <a:rPr sz="1300" b="1">
                <a:solidFill>
                  <a:srgbClr val="E8793A"/>
                </a:solidFill>
                <a:latin typeface="Nunito Sans"/>
              </a:rPr>
              <a:t>PENSAMIENTO CRÍTICO · SESIÓN 31 · UNIDAD 6 · INFORMACIÓN Y FUENTES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55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250"/>
              </a:spcAft>
            </a:pPr>
            <a:r>
              <a:rPr sz="5000" b="1">
                <a:solidFill>
                  <a:srgbClr val="1F2A44"/>
                </a:solidFill>
                <a:latin typeface="Fredoka"/>
              </a:rPr>
              <a:t>¿Qué es una fuente fiable?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4A5568"/>
                </a:solidFill>
                <a:latin typeface="Nunito Sans"/>
              </a:rPr>
              <a:t>Ninguna fuente es fiable para todo: miramos quién lo dice, cómo lo sabe, qué gana y cómo ha acertado antes.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Escribe en tu hoja las palabras que faltan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Antes de fiarme de un experto miro su campo, el ______, sus intereses y sus pruebas.  (sesión 30)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En los experimentos de la unidad 5, Asch estudió la ______; Milgram, la obediencia.  (sesión 30)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Pregunta que desmonta la generalización apresurada: ¿cuántos ______ has mirado?  (sesión 19)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Corrige con otro color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Antes de fiarme de un experto miro su campo, el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consenso</a:t>
            </a:r>
            <a:r>
              <a:rPr sz="2600" b="0">
                <a:solidFill>
                  <a:srgbClr val="1F2A44"/>
                </a:solidFill>
                <a:latin typeface="Nunito Sans"/>
              </a:rPr>
              <a:t>, sus intereses y sus pruebas.  (sesión 30)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En los experimentos de la unidad 5, Asch estudió la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conformidad</a:t>
            </a:r>
            <a:r>
              <a:rPr sz="2600" b="0">
                <a:solidFill>
                  <a:srgbClr val="1F2A44"/>
                </a:solidFill>
                <a:latin typeface="Nunito Sans"/>
              </a:rPr>
              <a:t>; Milgram, la obediencia.  (sesión 30)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Pregunta que desmonta la generalización apresurada: ¿cuántos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casos</a:t>
            </a:r>
            <a:r>
              <a:rPr sz="2600" b="0">
                <a:solidFill>
                  <a:srgbClr val="1F2A44"/>
                </a:solidFill>
                <a:latin typeface="Nunito Sans"/>
              </a:rPr>
              <a:t> has mirado?  (sesión 19)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PARA EMPEZAR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00" y="1300000"/>
            <a:ext cx="90000" cy="2400000"/>
          </a:xfrm>
          <a:prstGeom prst="rect">
            <a:avLst/>
          </a:prstGeom>
          <a:solidFill>
            <a:srgbClr val="E879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40000" y="1300000"/>
            <a:ext cx="10612000" cy="2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530"/>
              </a:spcAft>
            </a:pPr>
            <a:r>
              <a:rPr sz="3400" b="1">
                <a:solidFill>
                  <a:srgbClr val="1F2A44"/>
                </a:solidFill>
                <a:latin typeface="Nunito Sans"/>
              </a:rPr>
              <a:t>Tres mensajes dicen que mañana cierra el metro: uno de un amigo, otro de una cuenta sin nombre y otro de la web oficial del metro.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¿A cuál harías más caso? ¿Por qué?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BLOQUE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Qué es una fuente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QUÉ ES UNA FUENTE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Fuente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10912000" cy="115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1F2A44"/>
                </a:solidFill>
                <a:latin typeface="Nunito Sans"/>
              </a:rPr>
              <a:t>Una fuente es de donde sale una información: una persona, un medio, una web, un libro.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Fuente original: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quien lo vio, lo midió o lo decidió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De segunda mano: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quien lo cuenta después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Cuanto más lejos del original, más fácil que cambie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QUÉ ES UNA FUENTE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Tres preguntas a una fuente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00" y="1700000"/>
          <a:ext cx="10912000" cy="24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56000"/>
                <a:gridCol w="5456000"/>
              </a:tblGrid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Pregunta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Qué miro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¿Quién lo dice?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¿Tiene nombre? ¿Sabe del tema?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¿Cómo lo sabe?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¿Lo vio, lo midió o lo copió?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¿Qué gana?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¿Dinero, visitas, votos, fama?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QUÉ ES UNA FUENTE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Señales de una fuente (pistas, no pruebas)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5306000" cy="4400000"/>
          </a:xfrm>
          <a:prstGeom prst="rect">
            <a:avLst/>
          </a:prstGeom>
          <a:solidFill>
            <a:srgbClr val="FBE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50000"/>
            <a:ext cx="4906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C2531C"/>
                </a:solidFill>
                <a:latin typeface="Nunito Sans"/>
              </a:rPr>
              <a:t>Señales de alerta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0000" y="2400000"/>
            <a:ext cx="4906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Sin autor ni fecha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No dice de dónde saca los datos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Quiere que compres, votes o compartas ya</a:t>
            </a:r>
          </a:p>
        </p:txBody>
      </p:sp>
      <p:sp>
        <p:nvSpPr>
          <p:cNvPr id="7" name="Rectangle 6"/>
          <p:cNvSpPr/>
          <p:nvPr/>
        </p:nvSpPr>
        <p:spPr>
          <a:xfrm>
            <a:off x="6246000" y="1650000"/>
            <a:ext cx="5306000" cy="440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46000" y="1750000"/>
            <a:ext cx="4906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2F6FB5"/>
                </a:solidFill>
                <a:latin typeface="Nunito Sans"/>
              </a:rPr>
              <a:t>Señales a favor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46000" y="2400000"/>
            <a:ext cx="4906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Autor con nombre y oficio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Enlaza a sus fuentes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Ha acertado otras veces en ese tema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Corrige sus errores en público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BLOQUE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Casos resueltos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2 · CASOS RESUELTOS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Caso 1 · El metro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Tres mensajes dicen que mañana cierra el metro: uno de un amigo, otro de una cuenta sin nombre y otro de la web oficial del metro.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El amigo: es de segunda mano. ¿Dónde lo leyó?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La cuenta sin nombre: no sé quién es ni cómo lo sabe.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La web oficial: es la fuente original, porque el metro es quien decide si cierra.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hago caso a la web oficial. Si no dice nada, espero antes de creérmelo.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2 · CASOS RESUELTOS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Caso 2 · La ola de calor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Leire busca información sobre una ola de calor. Encuentra un blog sin autor y una noticia de un periódico con datos de la Agencia Estatal de Meteorología.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¿Quién lo dice? El blog, no lo sé. El periódico tiene nombre y periodista.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¿Cómo lo sabe? El periódico cita a la Agencia de Meteorología, que mide las temperaturas.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Mejor aún: puedo ir a la web de la Agencia, la fuente original.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para este dato, el periódico es mejor fuente que el blog, y la Agencia mejor que los dos.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2 · CASOS RESUELTOS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Caso 3 · La web de la marca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Una web dice que una bebida energética «mejora las notas». La web es de la marca que la vende.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¿Quién lo dice? La propia marca.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¿Cómo lo sabe? No cita ningún estudio.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¿Qué gana? Vender más: tiene un interés claro.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para este tema, no es una fuente fiable. Busco qué dicen médicos o nutricionistas que no la vendan.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C9A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1F2A44"/>
                </a:solidFill>
                <a:latin typeface="Nunito Sans"/>
              </a:rPr>
              <a:t>CASO TRAMPA · BLOQUE 2 · CASOS RESUELTOS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⚠ El periódico que se equivocó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Un periódico serio publica que un jugador del Athletic ficha por otro equipo. Al día siguiente escribe: «Nos equivocamos: no es verdad». (Ejemplo inventado.)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Se ha equivocado. ¿Entonces ya no es una fuente fiable?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Todos los medios se equivocan alguna vez, también los mejores.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Este ha corregido rápido y en público: eso es una señal a favor.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Una cuenta que nunca corrige nada no es mejor: solo esconde sus errores.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5.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fiable no es </a:t>
            </a:r>
            <a:r>
              <a:rPr sz="2400" b="1">
                <a:solidFill>
                  <a:srgbClr val="1F2A44"/>
                </a:solidFill>
                <a:latin typeface="Nunito Sans"/>
              </a:rPr>
              <a:t>infalible</a:t>
            </a:r>
            <a:r>
              <a:rPr sz="2400" b="0">
                <a:solidFill>
                  <a:srgbClr val="1F2A44"/>
                </a:solidFill>
                <a:latin typeface="Nunito Sans"/>
              </a:rPr>
              <a:t> (que nunca falla). Es quien suele acertar y corrige cuando falla.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Escríbelo tú primero, sin mirar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Dos minutos. Después lo comparamos.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300000"/>
            <a:ext cx="10912000" cy="4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Una fuente es de donde sale una información; la original suele valer más.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Pregunta siempre: ¿quién lo dice?, ¿cómo lo sabe?, ¿qué gana?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Fiable no es infalible: es quien suele acertar y corrige sus errores.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F4B183"/>
                </a:solidFill>
                <a:latin typeface="Nunito Sans"/>
              </a:rPr>
              <a:t>VÍDEO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20"/>
              </a:spcAft>
            </a:pPr>
            <a:r>
              <a:rPr sz="3600" b="1">
                <a:solidFill>
                  <a:srgbClr val="FBF7EF"/>
                </a:solidFill>
                <a:latin typeface="Fredoka"/>
              </a:rPr>
              <a:t>Cómo saber si una fuente de información es fiable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2200000"/>
            <a:ext cx="10912000" cy="2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C9D3E6"/>
                </a:solidFill>
                <a:latin typeface="Nunito Sans"/>
              </a:rPr>
              <a:t>Que oigan las mismas preguntas (quién, cómo lo sabe, qué gana) con otros ejemplos.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F4B183"/>
                </a:solidFill>
                <a:latin typeface="Nunito Sans"/>
              </a:rPr>
              <a:t>AHORA, LA HOJA DEL DÍA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FBF7EF"/>
                </a:solidFill>
                <a:latin typeface="Fredoka"/>
              </a:rPr>
              <a:t>20 minutos · individual · en silencio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0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1 · Todos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0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6 puntos</a:t>
            </a:r>
          </a:p>
        </p:txBody>
      </p:sp>
      <p:sp>
        <p:nvSpPr>
          <p:cNvPr id="7" name="Rectangle 6"/>
          <p:cNvSpPr/>
          <p:nvPr/>
        </p:nvSpPr>
        <p:spPr>
          <a:xfrm>
            <a:off x="4344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94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2 · Repaso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94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puntos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48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98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3 · Reto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98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puntos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00" y="42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0">
                <a:solidFill>
                  <a:srgbClr val="C9D3E6"/>
                </a:solidFill>
                <a:latin typeface="Nunito Sans"/>
              </a:rPr>
              <a:t>1.ª pasada: sin apuntes, con bolígrafo. 2.ª pasada: con los apuntes, en otro color. Marca «seguro» o «dudo» en cada respuesta.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